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b46ce8712e483b" /><Relationship Type="http://schemas.openxmlformats.org/officeDocument/2006/relationships/extended-properties" Target="/docProps/app.xml" Id="Ra15764f88f424128" /><Relationship Type="http://schemas.openxmlformats.org/officeDocument/2006/relationships/officeDocument" Target="/ppt/presentation.xml" Id="R739bf95dce6a4b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d5311370b4ccf"/>
  </p:sldMasterIdLst>
  <p:notesMasterIdLst>
    <p:notesMasterId xmlns:r="http://schemas.openxmlformats.org/officeDocument/2006/relationships" r:id="Ra01e8fb7d07e4fba"/>
  </p:notesMasterIdLst>
  <p:sldIdLst>
    <p:sldId xmlns:r="http://schemas.openxmlformats.org/officeDocument/2006/relationships" id="256" r:id="R02099105b2104f8c"/>
    <p:sldId xmlns:r="http://schemas.openxmlformats.org/officeDocument/2006/relationships" id="257" r:id="Rcc96b83400354f57"/>
    <p:sldId xmlns:r="http://schemas.openxmlformats.org/officeDocument/2006/relationships" id="258" r:id="Rca3293a3c68c442b"/>
    <p:sldId xmlns:r="http://schemas.openxmlformats.org/officeDocument/2006/relationships" id="259" r:id="Ra7a242ca452047fd"/>
    <p:sldId xmlns:r="http://schemas.openxmlformats.org/officeDocument/2006/relationships" id="260" r:id="R6b0159ab4b7a468d"/>
    <p:sldId xmlns:r="http://schemas.openxmlformats.org/officeDocument/2006/relationships" id="261" r:id="R2d84aeee1af8462b"/>
    <p:sldId xmlns:r="http://schemas.openxmlformats.org/officeDocument/2006/relationships" id="262" r:id="R2ef21b7a817441e2"/>
    <p:sldId xmlns:r="http://schemas.openxmlformats.org/officeDocument/2006/relationships" id="263" r:id="R64dc42da9d344fda"/>
    <p:sldId xmlns:r="http://schemas.openxmlformats.org/officeDocument/2006/relationships" id="264" r:id="R7f5c91f856af4606"/>
    <p:sldId xmlns:r="http://schemas.openxmlformats.org/officeDocument/2006/relationships" id="265" r:id="R97cc436e9407498b"/>
    <p:sldId xmlns:r="http://schemas.openxmlformats.org/officeDocument/2006/relationships" id="266" r:id="R74cc447b8ded4585"/>
    <p:sldId xmlns:r="http://schemas.openxmlformats.org/officeDocument/2006/relationships" id="267" r:id="Rb85f0300d43540ff"/>
    <p:sldId xmlns:r="http://schemas.openxmlformats.org/officeDocument/2006/relationships" id="268" r:id="R5689372d404b47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7b04d8d1684f85" /><Relationship Type="http://schemas.openxmlformats.org/officeDocument/2006/relationships/slideMaster" Target="/ppt/slideMasters/slideMaster1.xml" Id="R760d5311370b4ccf" /><Relationship Type="http://schemas.openxmlformats.org/officeDocument/2006/relationships/notesMaster" Target="/ppt/notesMasters/notesMaster1.xml" Id="Ra01e8fb7d07e4fba" /><Relationship Type="http://schemas.openxmlformats.org/officeDocument/2006/relationships/presProps" Target="/ppt/presProps.xml" Id="Rb837fc1b1c5e45ca" /><Relationship Type="http://schemas.openxmlformats.org/officeDocument/2006/relationships/tableStyles" Target="/ppt/tableStyles.xml" Id="R1e7c122e08494159" /><Relationship Type="http://schemas.openxmlformats.org/officeDocument/2006/relationships/slide" Target="/ppt/slides/slide1.xml" Id="R02099105b2104f8c" /><Relationship Type="http://schemas.openxmlformats.org/officeDocument/2006/relationships/slide" Target="/ppt/slides/slide2.xml" Id="Rcc96b83400354f57" /><Relationship Type="http://schemas.openxmlformats.org/officeDocument/2006/relationships/slide" Target="/ppt/slides/slide3.xml" Id="Rca3293a3c68c442b" /><Relationship Type="http://schemas.openxmlformats.org/officeDocument/2006/relationships/slide" Target="/ppt/slides/slide4.xml" Id="Ra7a242ca452047fd" /><Relationship Type="http://schemas.openxmlformats.org/officeDocument/2006/relationships/slide" Target="/ppt/slides/slide5.xml" Id="R6b0159ab4b7a468d" /><Relationship Type="http://schemas.openxmlformats.org/officeDocument/2006/relationships/slide" Target="/ppt/slides/slide6.xml" Id="R2d84aeee1af8462b" /><Relationship Type="http://schemas.openxmlformats.org/officeDocument/2006/relationships/slide" Target="/ppt/slides/slide7.xml" Id="R2ef21b7a817441e2" /><Relationship Type="http://schemas.openxmlformats.org/officeDocument/2006/relationships/slide" Target="/ppt/slides/slide8.xml" Id="R64dc42da9d344fda" /><Relationship Type="http://schemas.openxmlformats.org/officeDocument/2006/relationships/slide" Target="/ppt/slides/slide9.xml" Id="R7f5c91f856af4606" /><Relationship Type="http://schemas.openxmlformats.org/officeDocument/2006/relationships/slide" Target="/ppt/slides/slide10.xml" Id="R97cc436e9407498b" /><Relationship Type="http://schemas.openxmlformats.org/officeDocument/2006/relationships/slide" Target="/ppt/slides/slide11.xml" Id="R74cc447b8ded4585" /><Relationship Type="http://schemas.openxmlformats.org/officeDocument/2006/relationships/slide" Target="/ppt/slides/slide12.xml" Id="Rb85f0300d43540ff" /><Relationship Type="http://schemas.openxmlformats.org/officeDocument/2006/relationships/slide" Target="/ppt/slides/slide13.xml" Id="R5689372d404b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6704818904f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a3badb504b44b8" /><Relationship Type="http://schemas.openxmlformats.org/officeDocument/2006/relationships/notesMaster" Target="/ppt/notesMasters/notesMaster1.xml" Id="R88bac0da773648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c728e0ca64eec" /><Relationship Type="http://schemas.openxmlformats.org/officeDocument/2006/relationships/notesMaster" Target="/ppt/notesMasters/notesMaster1.xml" Id="R6aaa1f9158d942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539e53717942f0" /><Relationship Type="http://schemas.openxmlformats.org/officeDocument/2006/relationships/notesMaster" Target="/ppt/notesMasters/notesMaster1.xml" Id="R2264cacd3b5144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a55369d7144f50" /><Relationship Type="http://schemas.openxmlformats.org/officeDocument/2006/relationships/notesMaster" Target="/ppt/notesMasters/notesMaster1.xml" Id="R383faceed97043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f8bd6d3b604681" /><Relationship Type="http://schemas.openxmlformats.org/officeDocument/2006/relationships/notesMaster" Target="/ppt/notesMasters/notesMaster1.xml" Id="Ra68df839d34145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449b0e8314de2" /><Relationship Type="http://schemas.openxmlformats.org/officeDocument/2006/relationships/notesMaster" Target="/ppt/notesMasters/notesMaster1.xml" Id="R461fa4470f6746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e9c03309f84329" /><Relationship Type="http://schemas.openxmlformats.org/officeDocument/2006/relationships/notesMaster" Target="/ppt/notesMasters/notesMaster1.xml" Id="R5f757662d94440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9570d9b08d45f3" /><Relationship Type="http://schemas.openxmlformats.org/officeDocument/2006/relationships/notesMaster" Target="/ppt/notesMasters/notesMaster1.xml" Id="Rb07706b3721a4c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d37818aa074112" /><Relationship Type="http://schemas.openxmlformats.org/officeDocument/2006/relationships/notesMaster" Target="/ppt/notesMasters/notesMaster1.xml" Id="R0437c034e68c45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677fd132424882" /><Relationship Type="http://schemas.openxmlformats.org/officeDocument/2006/relationships/notesMaster" Target="/ppt/notesMasters/notesMaster1.xml" Id="R7aa58618bf5f48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242ee5f77247a8" /><Relationship Type="http://schemas.openxmlformats.org/officeDocument/2006/relationships/notesMaster" Target="/ppt/notesMasters/notesMaster1.xml" Id="Rdc1d85480ec843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96c3dfa875425e" /><Relationship Type="http://schemas.openxmlformats.org/officeDocument/2006/relationships/notesMaster" Target="/ppt/notesMasters/notesMaster1.xml" Id="Rb7d606426a4240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c02fea81eb417c" /><Relationship Type="http://schemas.openxmlformats.org/officeDocument/2006/relationships/notesMaster" Target="/ppt/notesMasters/notesMaster1.xml" Id="Redbc76664e1041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45a05b0c74d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64c16a241e4dc4" /><Relationship Type="http://schemas.openxmlformats.org/officeDocument/2006/relationships/slideLayout" Target="/ppt/slideLayouts/slideLayout1.xml" Id="R979017979e9a48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9017979e9a48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266bfcfeb4673" /><Relationship Type="http://schemas.openxmlformats.org/officeDocument/2006/relationships/image" Target="/ppt/media/image.png" Id="Rcf6ee6f4c17f4b6d" /><Relationship Type="http://schemas.openxmlformats.org/officeDocument/2006/relationships/image" Target="/ppt/media/image.jpeg" Id="R2811217f6ed94b9c" /><Relationship Type="http://schemas.openxmlformats.org/officeDocument/2006/relationships/image" Target="/ppt/media/image2.jpeg" Id="R246f443d45764363" /><Relationship Type="http://schemas.openxmlformats.org/officeDocument/2006/relationships/notesSlide" Target="/ppt/notesSlides/notesSlide1.xml" Id="R776107225d3f46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5a2a46bcd4d3b" /><Relationship Type="http://schemas.openxmlformats.org/officeDocument/2006/relationships/notesSlide" Target="/ppt/notesSlides/notesSlide2.xml" Id="R6223c95de331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d15fe57404322" /><Relationship Type="http://schemas.openxmlformats.org/officeDocument/2006/relationships/image" Target="/ppt/media/image3.jpeg" Id="R1b77592a6ce740ed" /><Relationship Type="http://schemas.openxmlformats.org/officeDocument/2006/relationships/notesSlide" Target="/ppt/notesSlides/notesSlide3.xml" Id="R632e0e1a7811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e305bfd914de0" /><Relationship Type="http://schemas.openxmlformats.org/officeDocument/2006/relationships/notesSlide" Target="/ppt/notesSlides/notesSlide4.xml" Id="Ra49f264baf0240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8f184206a453d" /><Relationship Type="http://schemas.openxmlformats.org/officeDocument/2006/relationships/image" Target="/ppt/media/image4.jpeg" Id="R7f963d96ebef492c" /><Relationship Type="http://schemas.openxmlformats.org/officeDocument/2006/relationships/image" Target="/ppt/media/image5.jpeg" Id="R9d769f138b0f4100" /><Relationship Type="http://schemas.openxmlformats.org/officeDocument/2006/relationships/image" Target="/ppt/media/image6.jpeg" Id="Red52c233ee0b4aea" /><Relationship Type="http://schemas.openxmlformats.org/officeDocument/2006/relationships/notesSlide" Target="/ppt/notesSlides/notesSlide5.xml" Id="R88ac3ef50c5b4d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47c51c9374483" /><Relationship Type="http://schemas.openxmlformats.org/officeDocument/2006/relationships/image" Target="/ppt/media/image7.jpeg" Id="Rd663621173af4e04" /><Relationship Type="http://schemas.openxmlformats.org/officeDocument/2006/relationships/notesSlide" Target="/ppt/notesSlides/notesSlide6.xml" Id="R446320484c1a44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8a94e43224b2b" /><Relationship Type="http://schemas.openxmlformats.org/officeDocument/2006/relationships/image" Target="/ppt/media/image8.jpeg" Id="R582f1a04513d42a5" /><Relationship Type="http://schemas.openxmlformats.org/officeDocument/2006/relationships/image" Target="/ppt/media/image9.jpeg" Id="R28799bb7312e47b9" /><Relationship Type="http://schemas.openxmlformats.org/officeDocument/2006/relationships/image" Target="/ppt/media/image10.jpeg" Id="R6c5f693cb1db4e7d" /><Relationship Type="http://schemas.openxmlformats.org/officeDocument/2006/relationships/notesSlide" Target="/ppt/notesSlides/notesSlide7.xml" Id="R60790c2da5fa4c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3c0bc79b44830" /><Relationship Type="http://schemas.openxmlformats.org/officeDocument/2006/relationships/image" Target="/ppt/media/image11.jpeg" Id="Ra76826ebaa0d44c5" /><Relationship Type="http://schemas.openxmlformats.org/officeDocument/2006/relationships/image" Target="/ppt/media/image2.png" Id="R8f9140d7edc044b7" /><Relationship Type="http://schemas.openxmlformats.org/officeDocument/2006/relationships/image" Target="/ppt/media/image12.jpeg" Id="R4496f38d5cad46e2" /><Relationship Type="http://schemas.openxmlformats.org/officeDocument/2006/relationships/notesSlide" Target="/ppt/notesSlides/notesSlide8.xml" Id="Rd22fe2e0801242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79417786c4f03" /><Relationship Type="http://schemas.openxmlformats.org/officeDocument/2006/relationships/image" Target="/ppt/media/image13.jpeg" Id="R2d575ab89e784a26" /><Relationship Type="http://schemas.openxmlformats.org/officeDocument/2006/relationships/image" Target="/ppt/media/image14.jpeg" Id="R3b65d49828dd4efe" /><Relationship Type="http://schemas.openxmlformats.org/officeDocument/2006/relationships/image" Target="/ppt/media/image15.jpeg" Id="R863ba66b3ea64b2b" /><Relationship Type="http://schemas.openxmlformats.org/officeDocument/2006/relationships/notesSlide" Target="/ppt/notesSlides/notesSlide9.xml" Id="R79b31ce6d5ed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7a3cf486d4dca" /><Relationship Type="http://schemas.openxmlformats.org/officeDocument/2006/relationships/image" Target="/ppt/media/image16.jpeg" Id="R52c9a5fee7864b6d" /><Relationship Type="http://schemas.openxmlformats.org/officeDocument/2006/relationships/image" Target="/ppt/media/image17.jpeg" Id="R377883435e904022" /><Relationship Type="http://schemas.openxmlformats.org/officeDocument/2006/relationships/image" Target="/ppt/media/image18.jpeg" Id="Rd282e7dc08bc4d66" /><Relationship Type="http://schemas.openxmlformats.org/officeDocument/2006/relationships/notesSlide" Target="/ppt/notesSlides/notesSlide10.xml" Id="Rddb7d141043649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412d408d94363" /><Relationship Type="http://schemas.openxmlformats.org/officeDocument/2006/relationships/image" Target="/ppt/media/image19.jpeg" Id="R3f5021ce704a4ef0" /><Relationship Type="http://schemas.openxmlformats.org/officeDocument/2006/relationships/image" Target="/ppt/media/image3.png" Id="Ra6e94248dc674c90" /><Relationship Type="http://schemas.openxmlformats.org/officeDocument/2006/relationships/image" Target="/ppt/media/image20.jpeg" Id="R9f770f3675014bf1" /><Relationship Type="http://schemas.openxmlformats.org/officeDocument/2006/relationships/image" Target="/ppt/media/image4.png" Id="Rc0f7f3bf9ac647e5" /><Relationship Type="http://schemas.openxmlformats.org/officeDocument/2006/relationships/notesSlide" Target="/ppt/notesSlides/notesSlide11.xml" Id="Rff4cfbd1580e47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1241501504068" /><Relationship Type="http://schemas.openxmlformats.org/officeDocument/2006/relationships/notesSlide" Target="/ppt/notesSlides/notesSlide12.xml" Id="R3c49c378aa394e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d43b0afa7422f" /><Relationship Type="http://schemas.openxmlformats.org/officeDocument/2006/relationships/image" Target="/ppt/media/image21.jpeg" Id="R6df0354cff2f441a" /><Relationship Type="http://schemas.openxmlformats.org/officeDocument/2006/relationships/notesSlide" Target="/ppt/notesSlides/notesSlide13.xml" Id="R71acecdbda4146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719573EB-F3FB-4972-B46A-B9B9C48E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F236FBBB-8A5B-4E04-8C13-8177AD3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55FC3CCC-F99B-4911-8D35-0717830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977C5-85BD-4586-A438-66A7A461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SMART POCKET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5DB6E-55C9-4B2E-B215-94755EBE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ee6f4c17f4b6d"/>
          <a:stretch xmlns:a="http://schemas.openxmlformats.org/drawingml/2006/main"/>
        </p:blipFill>
        <p:spPr>
          <a:xfrm xmlns:a="http://schemas.openxmlformats.org/drawingml/2006/main">
            <a:off x="628650" y="1623689"/>
            <a:ext cx="876300" cy="7912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435CC-9A6A-4013-9F39-D1882FF9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857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</a:defRPr>
            </a:pPr>
            <a:r>
              <a:rPr sz="4575" b="1">
                <a:solidFill>
                  <a:srgbClr val="FFFFFF"/>
                </a:solidFill>
              </a:rPr>
              <a:t>SMART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</a:defRPr>
            </a:pPr>
            <a:r>
              <a:rPr sz="4575" b="1">
                <a:solidFill>
                  <a:srgbClr val="FFFFFF"/>
                </a:solidFill>
              </a:rPr>
              <a:t>POCKET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B48E0-E1DE-47F8-B058-5D1D165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DE7EB-6224-4DA1-A4E7-3D4D179A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9C6DA"/>
                </a:solidFill>
              </a:defRPr>
            </a:pPr>
            <a:r>
              <a:rPr sz="2100" b="0">
                <a:solidFill>
                  <a:srgbClr val="B9C6DA"/>
                </a:solidFill>
              </a:rPr>
              <a:t>Track. Plan. Grow.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448A4-AD5A-4C49-A366-159C5D4D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519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6DA"/>
                </a:solidFill>
              </a:defRPr>
            </a:pPr>
            <a:r>
              <a:rPr sz="1425" b="0">
                <a:solidFill>
                  <a:srgbClr val="B9C6DA"/>
                </a:solidFill>
              </a:rPr>
              <a:t>A multi-modal personal finance app that reduces recording friction while improving financial awareness.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F2F684FD-CF92-4539-9B55-31FD59A0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43000"/>
            <a:ext cx="2000250" cy="42672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1217f6ed94b9c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219200"/>
            <a:ext cx="1847850" cy="4114800"/>
          </a:xfrm>
          <a:prstGeom xmlns:a="http://schemas.openxmlformats.org/drawingml/2006/main" prst="roundRect">
            <a:avLst>
              <a:gd name="adj" fmla="val 618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9BA91-1EB7-4A9E-9424-6AF99E44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864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Dashboard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09D3F17E-F9D1-442F-B53A-AEAD578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352550"/>
            <a:ext cx="1771650" cy="37528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f443d45764363"/>
          <a:srcRect xmlns:a="http://schemas.openxmlformats.org/drawingml/2006/main" l="0" t="60" r="0" b="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1625" y="1428750"/>
            <a:ext cx="1619250" cy="36004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DD6C8-46DD-4994-9C59-022AE8A7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1816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Operating Mode</a:t>
            </a:r>
          </a:p>
        </p:txBody>
      </p:sp>
    </p:spTree>
    <p:extLst>
      <p:ext uri="{BB962C8B-B14F-4D97-AF65-F5344CB8AC3E}">
        <p14:creationId xmlns:p14="http://schemas.microsoft.com/office/powerpoint/2010/main" val="5332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2436ECC0-3E11-4261-B209-72ECBCF6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021CC4A2-EBCC-46EC-BB10-0864CCAF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C508CE93-9C7B-4007-B98C-15FF8F7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BF7E-2B2A-4024-8A0F-8673CC5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3D145-95BF-4CA1-8487-8B827A0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8BF2E-2688-4B99-85CC-1ABF106B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Personal Finance Dilemma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C070A-AACA-4A9F-8FFC-5D524EDF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Young adults do not only need to record money. They need a recording method they can sustain.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22E98047-837E-4E29-96B3-CAA87B77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FFC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23BC2-2F41-490F-8A45-2CFB2A2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1B268-1FFA-416B-9806-CA4A14D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Rigidity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5B804-1560-469D-90A6-ADB8B145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Manual tracking asks for too many details, so users delay recording or abandon the habit.</a:t>
            </a:r>
          </a:p>
        </p:txBody>
      </p:sp>
      <p:sp>
        <p:nvSpPr>
          <p:cNvPr id="12" name="glass-card">
            <a:extLst xmlns:a="http://schemas.openxmlformats.org/drawingml/2006/main">
              <a:ext uri="{FF2B5EF4-FFF2-40B4-BE49-F238E27FC236}">
                <a16:creationId xmlns:a16="http://schemas.microsoft.com/office/drawing/2014/main" id="{762ED963-AF56-4714-8610-84CFECFA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0267D-E4B0-409F-8BFB-F58FEE79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1C211-EB51-4239-AFBC-1CAA5CE4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Behavioral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0A82A-BDDA-4A0E-A240-64C0AE3E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Cashless spending happens quickly, but awareness comes too late when data is incomplete.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BA5B2-0829-4D80-9425-4E305500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Smart Pocket addresses both gaps by offering flexible tracking depth and immediate feedback.</a:t>
            </a:r>
          </a:p>
        </p:txBody>
      </p:sp>
    </p:spTree>
    <p:extLst>
      <p:ext uri="{BB962C8B-B14F-4D97-AF65-F5344CB8AC3E}">
        <p14:creationId xmlns:p14="http://schemas.microsoft.com/office/powerpoint/2010/main" val="98498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1BE44580-FE0A-4714-8317-134FB65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D51123E0-DE78-4BEC-94DA-C76F08C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68ED8AF6-50E0-4C21-9150-FCE798AB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995C9-6EFB-482C-8D26-7BD9B59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PRODUCT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8DF2E-B310-4FE5-B50F-4A514667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90033-FC8F-46D8-9EFC-4AAC8F8E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Closing the Gap with Smart Pocket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EDFA5-C22A-4377-B31C-8804D392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The app combines fast capture, mode flexibility and visual financial feedback in one mobile workflow.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08F4BD7D-C9A8-4511-ABF1-AE4F1553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24000"/>
            <a:ext cx="1943100" cy="41338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7592a6ce740ed"/>
          <a:srcRect xmlns:a="http://schemas.openxmlformats.org/drawingml/2006/main" l="0" t="63" r="0" b="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600200"/>
            <a:ext cx="1790700" cy="39814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9373D-0F61-4385-9F5C-1590DF0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3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Main dashboard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C5AE997A-393F-4114-8540-EC744DB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9341F-8BB8-4795-B7DB-CF530B6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F158B-A591-40CA-B275-5A0D700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Frictionless 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3AD0F-34EE-4FB6-A144-A9B59344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Shortcuts and simplified forms reduce repeated manual input.</a:t>
            </a:r>
          </a:p>
        </p:txBody>
      </p:sp>
      <p:sp>
        <p:nvSpPr>
          <p:cNvPr id="15" name="glass-card">
            <a:extLst xmlns:a="http://schemas.openxmlformats.org/drawingml/2006/main">
              <a:ext uri="{FF2B5EF4-FFF2-40B4-BE49-F238E27FC236}">
                <a16:creationId xmlns:a16="http://schemas.microsoft.com/office/drawing/2014/main" id="{88232F5C-1C0C-4A9B-A001-29F36FD8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70958-D9EB-41B9-BA35-124E29D3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A051-6931-4F1C-9F04-4BB1EE87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Multi-Mode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3C71E-18DD-444A-9DE3-1248ED85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Users can choose simple Lazy Mode or controlled Detailed Mode.</a:t>
            </a:r>
          </a:p>
        </p:txBody>
      </p:sp>
      <p:sp>
        <p:nvSpPr>
          <p:cNvPr id="19" name="glass-card">
            <a:extLst xmlns:a="http://schemas.openxmlformats.org/drawingml/2006/main">
              <a:ext uri="{FF2B5EF4-FFF2-40B4-BE49-F238E27FC236}">
                <a16:creationId xmlns:a16="http://schemas.microsoft.com/office/drawing/2014/main" id="{4C088811-299D-4A42-90D1-95B5199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6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31910-5FD4-42F0-9E45-D038FCE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BA929-783F-43A4-9A3E-AB4D1C38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Goal-Oriented Insight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4E361-9154-41D7-8100-07C47E88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Analytics, budgets and allocation goals turn records into awareness.</a:t>
            </a:r>
          </a:p>
        </p:txBody>
      </p:sp>
      <p:sp>
        <p:nvSpPr>
          <p:cNvPr id="23" name="glass-card">
            <a:extLst xmlns:a="http://schemas.openxmlformats.org/drawingml/2006/main">
              <a:ext uri="{FF2B5EF4-FFF2-40B4-BE49-F238E27FC236}">
                <a16:creationId xmlns:a16="http://schemas.microsoft.com/office/drawing/2014/main" id="{FD91CB28-3161-4738-BA61-F684EDB3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4D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D4571-5C90-4DCB-ACE7-6F2F39A9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1484AC-65F3-4EC9-8751-A035614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338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Reliable Data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BE985-3A93-46C5-9C79-FD7DB7B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Accounts, transactions, recurring plans and reports stay connected.</a:t>
            </a:r>
          </a:p>
        </p:txBody>
      </p:sp>
    </p:spTree>
    <p:extLst>
      <p:ext uri="{BB962C8B-B14F-4D97-AF65-F5344CB8AC3E}">
        <p14:creationId xmlns:p14="http://schemas.microsoft.com/office/powerpoint/2010/main" val="898641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12C8DE08-1C8E-45A0-BDFE-480769B0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BCA2D346-3431-46E5-87CC-A51A1DF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1BAB2B45-B06F-4621-9902-8B87A962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95931-B0D6-46C0-AB57-D34DC52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DEMO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CA7D1-E9C2-470F-A69C-118C7551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68FB3-D10D-401A-A24E-E5493730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Presentation Flow for the 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41243-85C4-4B0E-8396-CFFA21CA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Each segment shows one user problem, then immediately demonstrates how Smart Pocket solves it.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FFC5DB5D-8340-460A-8783-250314FC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glass-card">
            <a:extLst xmlns:a="http://schemas.openxmlformats.org/drawingml/2006/main">
              <a:ext uri="{FF2B5EF4-FFF2-40B4-BE49-F238E27FC236}">
                <a16:creationId xmlns:a16="http://schemas.microsoft.com/office/drawing/2014/main" id="{F71E17AD-70FE-4190-A377-44C5243D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9E8FF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D1A40-B590-4D27-81EB-7019BFAA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020"/>
                </a:solidFill>
              </a:defRPr>
            </a:pPr>
            <a:r>
              <a:rPr sz="1500" b="1">
                <a:solidFill>
                  <a:srgbClr val="061020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93713-2788-4111-8CCA-89548C19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479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Start &amp; Onboard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53D14-D222-4DF6-BA95-09BE1A0F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Login, Smart Survey and security setup.</a:t>
            </a:r>
          </a:p>
        </p:txBody>
      </p:sp>
      <p:sp>
        <p:nvSpPr>
          <p:cNvPr id="13" name="glass-card">
            <a:extLst xmlns:a="http://schemas.openxmlformats.org/drawingml/2006/main">
              <a:ext uri="{FF2B5EF4-FFF2-40B4-BE49-F238E27FC236}">
                <a16:creationId xmlns:a16="http://schemas.microsoft.com/office/drawing/2014/main" id="{9EDB3E36-D586-402E-B6C4-4AEF2BD3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964A4105-BAFA-4172-8917-F62E64E3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8E5DFF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37DE0-5E08-4D82-A009-0942954F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33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020"/>
                </a:solidFill>
              </a:defRPr>
            </a:pPr>
            <a:r>
              <a:rPr sz="1500" b="1">
                <a:solidFill>
                  <a:srgbClr val="061020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71A9E-00B6-46A4-976A-FA44B32F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Choose Tracking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BA613-86ED-4ED5-8EA4-56DA7859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527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Lazy Mode vs Detailed Mode.</a:t>
            </a:r>
          </a:p>
        </p:txBody>
      </p:sp>
      <p:sp>
        <p:nvSpPr>
          <p:cNvPr id="18" name="glass-card">
            <a:extLst xmlns:a="http://schemas.openxmlformats.org/drawingml/2006/main">
              <a:ext uri="{FF2B5EF4-FFF2-40B4-BE49-F238E27FC236}">
                <a16:creationId xmlns:a16="http://schemas.microsoft.com/office/drawing/2014/main" id="{355B5BC1-CA05-4210-9772-A6D0AD6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6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glass-card">
            <a:extLst xmlns:a="http://schemas.openxmlformats.org/drawingml/2006/main">
              <a:ext uri="{FF2B5EF4-FFF2-40B4-BE49-F238E27FC236}">
                <a16:creationId xmlns:a16="http://schemas.microsoft.com/office/drawing/2014/main" id="{E13866CE-EC3E-4A68-83BA-E1D93209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6D399"/>
          </a:solidFill>
          <a:ln xmlns:a="http://schemas.openxmlformats.org/drawingml/2006/main" w="12383">
            <a:solidFill>
              <a:srgbClr val="36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775DC-1965-46AE-8CBE-E05E6DAA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020"/>
                </a:solidFill>
              </a:defRPr>
            </a:pPr>
            <a:r>
              <a:rPr sz="1500" b="1">
                <a:solidFill>
                  <a:srgbClr val="061020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AA5C5-D715-46F7-B6CC-28FB6B05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Set Up Accounts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A2CAF-8A6A-4810-87DC-EA9C0B50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527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Assets, account creation and allocation tags.</a:t>
            </a:r>
          </a:p>
        </p:txBody>
      </p:sp>
      <p:sp>
        <p:nvSpPr>
          <p:cNvPr id="23" name="glass-card">
            <a:extLst xmlns:a="http://schemas.openxmlformats.org/drawingml/2006/main">
              <a:ext uri="{FF2B5EF4-FFF2-40B4-BE49-F238E27FC236}">
                <a16:creationId xmlns:a16="http://schemas.microsoft.com/office/drawing/2014/main" id="{DC2EFEB2-FC24-41CC-A9AF-9646D778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FFC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glass-card">
            <a:extLst xmlns:a="http://schemas.openxmlformats.org/drawingml/2006/main">
              <a:ext uri="{FF2B5EF4-FFF2-40B4-BE49-F238E27FC236}">
                <a16:creationId xmlns:a16="http://schemas.microsoft.com/office/drawing/2014/main" id="{253B65E8-0528-409E-A064-3713C6B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12383">
            <a:solidFill>
              <a:srgbClr val="FFC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F58EB6-D100-4A8F-B675-BC298A53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020"/>
                </a:solidFill>
              </a:defRPr>
            </a:pPr>
            <a:r>
              <a:rPr sz="1500" b="1">
                <a:solidFill>
                  <a:srgbClr val="061020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FD2BB6-9051-4D32-8F3D-B7B51276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Record Daily Spending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79AA0-D0F1-4E4E-A141-0EB44828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Shortcut and Lazy transaction entry.</a:t>
            </a:r>
          </a:p>
        </p:txBody>
      </p:sp>
      <p:sp>
        <p:nvSpPr>
          <p:cNvPr id="28" name="glass-card">
            <a:extLst xmlns:a="http://schemas.openxmlformats.org/drawingml/2006/main">
              <a:ext uri="{FF2B5EF4-FFF2-40B4-BE49-F238E27FC236}">
                <a16:creationId xmlns:a16="http://schemas.microsoft.com/office/drawing/2014/main" id="{79633CD4-DDF7-4CFA-9F42-B88D6D7C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FF5B7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glass-card">
            <a:extLst xmlns:a="http://schemas.openxmlformats.org/drawingml/2006/main">
              <a:ext uri="{FF2B5EF4-FFF2-40B4-BE49-F238E27FC236}">
                <a16:creationId xmlns:a16="http://schemas.microsoft.com/office/drawing/2014/main" id="{B2CCE485-A5DF-4344-93BD-9EA30564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5B77"/>
          </a:solidFill>
          <a:ln xmlns:a="http://schemas.openxmlformats.org/drawingml/2006/main" w="12383">
            <a:solidFill>
              <a:srgbClr val="FF5B7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C7FAB-B3D1-4DAB-9DF6-292F7C9A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020"/>
                </a:solidFill>
              </a:defRPr>
            </a:pPr>
            <a:r>
              <a:rPr sz="1500" b="1">
                <a:solidFill>
                  <a:srgbClr val="061020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E1AAB4-7C18-49C1-903C-F8797DA9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766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Automate Repeats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687388-8934-446A-8131-E4F411BD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814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Recurring transactions and monthly budget.</a:t>
            </a:r>
          </a:p>
        </p:txBody>
      </p:sp>
      <p:sp>
        <p:nvSpPr>
          <p:cNvPr id="33" name="glass-card">
            <a:extLst xmlns:a="http://schemas.openxmlformats.org/drawingml/2006/main">
              <a:ext uri="{FF2B5EF4-FFF2-40B4-BE49-F238E27FC236}">
                <a16:creationId xmlns:a16="http://schemas.microsoft.com/office/drawing/2014/main" id="{CA8A7862-D572-4D8E-B4F0-5D4ECF43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4D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glass-card">
            <a:extLst xmlns:a="http://schemas.openxmlformats.org/drawingml/2006/main">
              <a:ext uri="{FF2B5EF4-FFF2-40B4-BE49-F238E27FC236}">
                <a16:creationId xmlns:a16="http://schemas.microsoft.com/office/drawing/2014/main" id="{3701A477-93EB-47B9-BD98-AF9D6446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4D7CFF"/>
          </a:solidFill>
          <a:ln xmlns:a="http://schemas.openxmlformats.org/drawingml/2006/main" w="12383">
            <a:solidFill>
              <a:srgbClr val="4D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FB844-4CBF-457B-8D19-4F20779C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62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020"/>
                </a:solidFill>
              </a:defRPr>
            </a:pPr>
            <a:r>
              <a:rPr sz="1500" b="1">
                <a:solidFill>
                  <a:srgbClr val="061020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07868-8133-490A-B198-F38A9C49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766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Review Impact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4B4FAB-EF13-4AFF-B4ED-A498582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814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Analytics, PDF report and validation results.</a:t>
            </a:r>
          </a:p>
        </p:txBody>
      </p:sp>
    </p:spTree>
    <p:extLst>
      <p:ext uri="{BB962C8B-B14F-4D97-AF65-F5344CB8AC3E}">
        <p14:creationId xmlns:p14="http://schemas.microsoft.com/office/powerpoint/2010/main" val="1527322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3E9ABF29-8C35-4E4C-A790-B8BC7BF9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D48482E9-4C76-459E-B613-7E61D601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4444F7F3-D51B-421F-96A9-8FC937D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49C8E-0929-4DB9-B551-EDB4C611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9A700-D80F-4956-9E2A-54F8691C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DA399-42BE-4472-8810-05700AB5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Onboarding and Secure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37396-931D-47CE-9C15-4FFFADEC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Users can enter quickly, answer a short survey and protect the app with device-level biometric authentication.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BBCD5294-01BA-434D-B9D1-817F3C5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447800" cy="30384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63d96ebef492c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2171700"/>
            <a:ext cx="1295400" cy="2886075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6990E-049A-40FA-B45E-FD9E5177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01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Welcome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EB313437-38D1-4B62-8311-78CEF5C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447800" cy="30384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69f138b0f4100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33700" y="2171700"/>
            <a:ext cx="1295400" cy="2886075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525C2-FB72-4AE0-AE29-25B7C7A6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01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Smart Survey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FBB46038-BE68-4ABC-A636-5A262881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1447800" cy="30384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2c233ee0b4aea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1550" y="2171700"/>
            <a:ext cx="1295400" cy="2886075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36177-ED67-4272-85A2-49B049DC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01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Biometric unlock</a:t>
            </a:r>
          </a:p>
        </p:txBody>
      </p:sp>
      <p:sp>
        <p:nvSpPr>
          <p:cNvPr id="17" name="glass-card">
            <a:extLst xmlns:a="http://schemas.openxmlformats.org/drawingml/2006/main">
              <a:ext uri="{FF2B5EF4-FFF2-40B4-BE49-F238E27FC236}">
                <a16:creationId xmlns:a16="http://schemas.microsoft.com/office/drawing/2014/main" id="{237EC68F-27E8-4B5D-A4C5-A223E08B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905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65E97-BD68-429C-8A98-CA77CCCF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77F47-6462-4A5E-96A4-06559626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098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Demo Cue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FF543-ADEA-45AB-BCC3-4E263694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Show login/register, then explain that Smart Survey supports onboarding and user habit understanding.</a:t>
            </a:r>
          </a:p>
        </p:txBody>
      </p:sp>
      <p:sp>
        <p:nvSpPr>
          <p:cNvPr id="21" name="glass-card">
            <a:extLst xmlns:a="http://schemas.openxmlformats.org/drawingml/2006/main">
              <a:ext uri="{FF2B5EF4-FFF2-40B4-BE49-F238E27FC236}">
                <a16:creationId xmlns:a16="http://schemas.microsoft.com/office/drawing/2014/main" id="{942B1416-C001-407A-9F6C-ACF95D76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905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CD2E7-A513-46D9-BAC3-8F6A0A0F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95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9B51C-8484-475B-9AB6-9437287F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291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Safe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540A9-5BB3-4B01-B6DF-178CF951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339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Biometric access uses the Android device's supported biometric prompt, not custom face or fingerprint recognition.</a:t>
            </a:r>
          </a:p>
        </p:txBody>
      </p:sp>
    </p:spTree>
    <p:extLst>
      <p:ext uri="{BB962C8B-B14F-4D97-AF65-F5344CB8AC3E}">
        <p14:creationId xmlns:p14="http://schemas.microsoft.com/office/powerpoint/2010/main" val="477652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0E7CEBD3-8E22-4D5B-89B7-7922FBC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0EC39832-6A1A-4778-9FFD-581676EB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FFD421DC-CA43-401E-A6F0-FBD2FC2D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82319-F58D-409C-B3A8-624C07C2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CORE INNOVATION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6E5BB-E03D-4C24-8BB7-8816F99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3470A-427B-427A-B4E5-E4A09F5F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Dual-Mode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E8A2D-8FDF-4283-BA73-D35B260A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Smart Pocket adapts to different tracking habits instead of forcing every user into the same workflow.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64B645D5-A421-4B7F-82AB-309D0DEF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62100"/>
            <a:ext cx="1809750" cy="38385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3621173af4e04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638300"/>
            <a:ext cx="1657350" cy="3686175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1DFF9-FB2B-4D62-8017-C39C856A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4768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Operating Mode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CEA1912E-2658-4195-BA74-83392625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29ADE-D5B9-4616-8EB5-D5C37D5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Lazy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15E13-2033-423B-9DC5-A0B26BD3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6DA"/>
                </a:solidFill>
              </a:defRPr>
            </a:pPr>
            <a:r>
              <a:rPr sz="1725" b="0">
                <a:solidFill>
                  <a:srgbClr val="B9C6DA"/>
                </a:solidFill>
              </a:rPr>
              <a:t>Design: Simple</a:t>
            </a:r>
          </a:p>
          <a:p xmlns:a="http://schemas.openxmlformats.org/drawingml/2006/main">
            <a:pPr algn="l">
              <a:defRPr sz="1725" b="0">
                <a:solidFill>
                  <a:srgbClr val="B9C6DA"/>
                </a:solidFill>
              </a:defRPr>
            </a:pPr>
            <a:r>
              <a:rPr sz="1725" b="0">
                <a:solidFill>
                  <a:srgbClr val="B9C6DA"/>
                </a:solidFill>
              </a:rPr>
              <a:t>Speed: Fast setup</a:t>
            </a:r>
          </a:p>
          <a:p xmlns:a="http://schemas.openxmlformats.org/drawingml/2006/main">
            <a:pPr algn="l">
              <a:defRPr sz="1725" b="0">
                <a:solidFill>
                  <a:srgbClr val="B9C6DA"/>
                </a:solidFill>
              </a:defRPr>
            </a:pPr>
            <a:r>
              <a:rPr sz="1725" b="0">
                <a:solidFill>
                  <a:srgbClr val="B9C6DA"/>
                </a:solidFill>
              </a:rPr>
              <a:t>Advantage: Lower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C9D2D-FB0C-4C9A-9936-EF0EC5B0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E8EA8"/>
                </a:solidFill>
              </a:defRPr>
            </a:pPr>
            <a:r>
              <a:rPr sz="1200" b="0">
                <a:solidFill>
                  <a:srgbClr val="7E8EA8"/>
                </a:solidFill>
              </a:rPr>
              <a:t>For users who want quick daily capture and a simple overview.</a:t>
            </a:r>
          </a:p>
        </p:txBody>
      </p:sp>
      <p:sp>
        <p:nvSpPr>
          <p:cNvPr id="15" name="glass-card">
            <a:extLst xmlns:a="http://schemas.openxmlformats.org/drawingml/2006/main">
              <a:ext uri="{FF2B5EF4-FFF2-40B4-BE49-F238E27FC236}">
                <a16:creationId xmlns:a16="http://schemas.microsoft.com/office/drawing/2014/main" id="{CFF11291-9F64-4CB1-889F-68545D20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7FD9F-F8F6-4164-87DC-775505D6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Detailed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D011F-F40A-4419-AE84-FC2686F3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6DA"/>
                </a:solidFill>
              </a:defRPr>
            </a:pPr>
            <a:r>
              <a:rPr sz="1725" b="0">
                <a:solidFill>
                  <a:srgbClr val="B9C6DA"/>
                </a:solidFill>
              </a:rPr>
              <a:t>Design: Advanced</a:t>
            </a:r>
          </a:p>
          <a:p xmlns:a="http://schemas.openxmlformats.org/drawingml/2006/main">
            <a:pPr algn="l">
              <a:defRPr sz="1725" b="0">
                <a:solidFill>
                  <a:srgbClr val="B9C6DA"/>
                </a:solidFill>
              </a:defRPr>
            </a:pPr>
            <a:r>
              <a:rPr sz="1725" b="0">
                <a:solidFill>
                  <a:srgbClr val="B9C6DA"/>
                </a:solidFill>
              </a:rPr>
              <a:t>Speed: Full control</a:t>
            </a:r>
          </a:p>
          <a:p xmlns:a="http://schemas.openxmlformats.org/drawingml/2006/main">
            <a:pPr algn="l">
              <a:defRPr sz="1725" b="0">
                <a:solidFill>
                  <a:srgbClr val="B9C6DA"/>
                </a:solidFill>
              </a:defRPr>
            </a:pPr>
            <a:r>
              <a:rPr sz="1725" b="0">
                <a:solidFill>
                  <a:srgbClr val="B9C6DA"/>
                </a:solidFill>
              </a:rPr>
              <a:t>Advantage: Higher accuracy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12F22-E8EC-44E4-B3E5-0951F604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E8EA8"/>
                </a:solidFill>
              </a:defRPr>
            </a:pPr>
            <a:r>
              <a:rPr sz="1200" b="0">
                <a:solidFill>
                  <a:srgbClr val="7E8EA8"/>
                </a:solidFill>
              </a:rPr>
              <a:t>For users who want account-level control and detailed records.</a:t>
            </a:r>
          </a:p>
        </p:txBody>
      </p:sp>
    </p:spTree>
    <p:extLst>
      <p:ext uri="{BB962C8B-B14F-4D97-AF65-F5344CB8AC3E}">
        <p14:creationId xmlns:p14="http://schemas.microsoft.com/office/powerpoint/2010/main" val="1716953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6FE6E99E-74DC-464B-BA6E-9228C31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A2A1C10D-8F4A-42CE-A931-121CAFF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3E3B2AC3-DDE4-405D-9EFE-57B47BAF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0043D-8D4C-439E-BCEF-7193F3C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KEY DIFFERENTIATOR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EE294-C627-4CB2-99FC-003904B8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0E840-41ED-48E8-83A7-4501898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Two Different Paths into Lazy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F05E3-CEE4-490F-90CC-8AFF7F2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This is the most important logic to explain during the demo: Lazy Mode is simple, but it is not always entered the same way.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1142ABFE-3533-4F90-865A-C8099098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466850" cy="307657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f1a04513d42a5"/>
          <a:srcRect xmlns:a="http://schemas.openxmlformats.org/drawingml/2006/main" l="0" t="36" r="0" b="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381250"/>
            <a:ext cx="1314450" cy="2924175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06FE-56F2-4087-A39D-A1AE9379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Add account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92988C12-034D-4659-B103-2A226D7E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466850" cy="307657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99bb7312e47b9"/>
          <a:srcRect xmlns:a="http://schemas.openxmlformats.org/drawingml/2006/main" l="0" t="36" r="0" b="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2381250"/>
            <a:ext cx="1314450" cy="2924175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10051-F458-4BD5-B03D-A1363423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57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Lazy assets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042A6B04-C16D-4845-847C-35C02E0D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1466850" cy="307657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f693cb1db4e7d"/>
          <a:srcRect xmlns:a="http://schemas.openxmlformats.org/drawingml/2006/main" l="0" t="36" r="0" b="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7400" y="2381250"/>
            <a:ext cx="1314450" cy="2924175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D92F0-F29D-495D-AC3C-E88FF7CC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57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Detailed accounts</a:t>
            </a:r>
          </a:p>
        </p:txBody>
      </p:sp>
      <p:sp>
        <p:nvSpPr>
          <p:cNvPr id="17" name="glass-card">
            <a:extLst xmlns:a="http://schemas.openxmlformats.org/drawingml/2006/main">
              <a:ext uri="{FF2B5EF4-FFF2-40B4-BE49-F238E27FC236}">
                <a16:creationId xmlns:a16="http://schemas.microsoft.com/office/drawing/2014/main" id="{BA3E472F-5EE7-4CA6-9AF3-5BABD8F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57450"/>
            <a:ext cx="25336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A21E8-77D2-4E3C-88C3-5A8369F8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First-Time Lazy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1D94C-40FD-467B-BECB-F2EB7E8E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6230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6DA"/>
                </a:solidFill>
              </a:defRPr>
            </a:pPr>
            <a:r>
              <a:rPr sz="1200" b="0">
                <a:solidFill>
                  <a:srgbClr val="B9C6DA"/>
                </a:solidFill>
              </a:rPr>
              <a:t>Starts with functional pools such as Daily Use, Savings and Investment. The setup is intentionally light to reduce first-use friction.</a:t>
            </a:r>
          </a:p>
        </p:txBody>
      </p:sp>
      <p:sp>
        <p:nvSpPr>
          <p:cNvPr id="20" name="glass-card">
            <a:extLst xmlns:a="http://schemas.openxmlformats.org/drawingml/2006/main">
              <a:ext uri="{FF2B5EF4-FFF2-40B4-BE49-F238E27FC236}">
                <a16:creationId xmlns:a16="http://schemas.microsoft.com/office/drawing/2014/main" id="{62C30F26-8F25-4C4D-A8D5-E1E64E13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390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223B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55883-A1F2-479D-9FB5-6EE480FF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814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9E8FF"/>
                </a:solidFill>
              </a:defRPr>
            </a:pPr>
            <a:r>
              <a:rPr sz="1050" b="1">
                <a:solidFill>
                  <a:srgbClr val="39E8FF"/>
                </a:solidFill>
              </a:rPr>
              <a:t>simple setup</a:t>
            </a:r>
          </a:p>
        </p:txBody>
      </p:sp>
      <p:sp>
        <p:nvSpPr>
          <p:cNvPr id="22" name="glass-card">
            <a:extLst xmlns:a="http://schemas.openxmlformats.org/drawingml/2006/main">
              <a:ext uri="{FF2B5EF4-FFF2-40B4-BE49-F238E27FC236}">
                <a16:creationId xmlns:a16="http://schemas.microsoft.com/office/drawing/2014/main" id="{0ECFAD9B-BBE1-4668-BB45-3921664B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57450"/>
            <a:ext cx="25336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080AA-A4FD-4693-A855-C958D81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Detailed to Lazy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F4B65-C48E-4BC2-A6A5-A1FE051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6230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6DA"/>
                </a:solidFill>
              </a:defRPr>
            </a:pPr>
            <a:r>
              <a:rPr sz="1200" b="0">
                <a:solidFill>
                  <a:srgbClr val="B9C6DA"/>
                </a:solidFill>
              </a:rPr>
              <a:t>Existing detailed accounts are grouped by allocation tag. Data is preserved; only the viewing depth becomes simpler.</a:t>
            </a:r>
          </a:p>
        </p:txBody>
      </p:sp>
      <p:sp>
        <p:nvSpPr>
          <p:cNvPr id="25" name="glass-card">
            <a:extLst xmlns:a="http://schemas.openxmlformats.org/drawingml/2006/main">
              <a:ext uri="{FF2B5EF4-FFF2-40B4-BE49-F238E27FC236}">
                <a16:creationId xmlns:a16="http://schemas.microsoft.com/office/drawing/2014/main" id="{747B94B9-4A27-4F49-8260-C0FCD1B2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1524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223B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9A005-15F5-47C3-9DAD-D66A3E5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814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E5DFF"/>
                </a:solidFill>
              </a:defRPr>
            </a:pPr>
            <a:r>
              <a:rPr sz="1050" b="1">
                <a:solidFill>
                  <a:srgbClr val="8E5DFF"/>
                </a:solidFill>
              </a:rPr>
              <a:t>tag aggregation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288D2-ED7B-4805-A8E7-DD1A7FD8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95950"/>
            <a:ext cx="899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Demo line: Lazy Mode can either reduce setup for beginners or reduce fatigue for detailed users.</a:t>
            </a:r>
          </a:p>
        </p:txBody>
      </p:sp>
    </p:spTree>
    <p:extLst>
      <p:ext uri="{BB962C8B-B14F-4D97-AF65-F5344CB8AC3E}">
        <p14:creationId xmlns:p14="http://schemas.microsoft.com/office/powerpoint/2010/main" val="1977670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FC3C3C32-53AE-4C20-BA0B-69441A0D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7A455F8B-1564-487B-B7D3-6AC003D3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DCAB09CA-A20D-4520-AB7C-C49D797C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E60C6-1B9F-4A2E-8DB9-BB11979D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ACCOUNTS &amp; ASSETS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82B37-837D-4ADB-8EC2-EE0B1CFA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8FA46-AC4C-45B7-A194-E8993C07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Goal-Oriented Account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3D57E-8705-4D09-8778-852A9154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Accounts support allocation goals and meaningful views of daily use, savings and investment.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F80EF90B-5121-41E8-A0F7-D702BFED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562100" cy="32861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826ebaa0d44c5"/>
          <a:srcRect xmlns:a="http://schemas.openxmlformats.org/drawingml/2006/main" l="0" t="11706" r="0" b="11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152650"/>
            <a:ext cx="1409700" cy="3133725"/>
          </a:xfrm>
          <a:prstGeom xmlns:a="http://schemas.openxmlformats.org/drawingml/2006/main" prst="roundRect">
            <a:avLst>
              <a:gd name="adj" fmla="val 810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6BFBD-CFD4-4755-96B7-92DC5B27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38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Accounts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419B9D50-6551-4EEF-B882-F40C238C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562100" cy="32861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140d7edc044b7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28950" y="2152650"/>
            <a:ext cx="1409700" cy="3133725"/>
          </a:xfrm>
          <a:prstGeom xmlns:a="http://schemas.openxmlformats.org/drawingml/2006/main" prst="roundRect">
            <a:avLst>
              <a:gd name="adj" fmla="val 81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F7C62-F63A-4079-9997-8D0D567E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Allocation goals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494B9B39-1675-4E35-9AE6-3E39C04A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1562100" cy="32861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6f38d5cad46e2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2152650"/>
            <a:ext cx="1409700" cy="3133725"/>
          </a:xfrm>
          <a:prstGeom xmlns:a="http://schemas.openxmlformats.org/drawingml/2006/main" prst="roundRect">
            <a:avLst>
              <a:gd name="adj" fmla="val 810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6E5D8-DFF2-4DD5-87EE-BBBBD662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38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Assets</a:t>
            </a:r>
          </a:p>
        </p:txBody>
      </p:sp>
      <p:sp>
        <p:nvSpPr>
          <p:cNvPr id="17" name="glass-card">
            <a:extLst xmlns:a="http://schemas.openxmlformats.org/drawingml/2006/main">
              <a:ext uri="{FF2B5EF4-FFF2-40B4-BE49-F238E27FC236}">
                <a16:creationId xmlns:a16="http://schemas.microsoft.com/office/drawing/2014/main" id="{A4558088-3FC7-4401-BCFE-2A2B4075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6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EF7A6-ED5F-4299-8760-05282421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8AD58-6EFB-41DD-846A-42EB05B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to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40A3C-5518-4469-AEE8-8D4F4D3D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Open Accounts, add or edit an account, then show allocation goals and suggested tags.</a:t>
            </a:r>
          </a:p>
        </p:txBody>
      </p:sp>
      <p:sp>
        <p:nvSpPr>
          <p:cNvPr id="21" name="glass-card">
            <a:extLst xmlns:a="http://schemas.openxmlformats.org/drawingml/2006/main">
              <a:ext uri="{FF2B5EF4-FFF2-40B4-BE49-F238E27FC236}">
                <a16:creationId xmlns:a16="http://schemas.microsoft.com/office/drawing/2014/main" id="{2F3CF91B-61CE-4EE6-BE7C-A00078DE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49ECC-B6A4-489C-A426-A6C64BF0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5C231-3F50-4D8B-8EB7-390CA4B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2B641-7EAF-42A4-887B-065CFB8F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This turns fragmented accounts into purpose-based financial guidance.</a:t>
            </a:r>
          </a:p>
        </p:txBody>
      </p:sp>
    </p:spTree>
    <p:extLst>
      <p:ext uri="{BB962C8B-B14F-4D97-AF65-F5344CB8AC3E}">
        <p14:creationId xmlns:p14="http://schemas.microsoft.com/office/powerpoint/2010/main" val="1369144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E3AB1341-FE36-4A4E-9043-E94DD91F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EC917AC4-8554-4F14-815A-1CAC8A40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31F8B037-BB14-4536-AEFC-95193435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54A38-89FE-4D7B-A20B-C25795E2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DAILY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2661E-49EA-45A1-A23C-25AE46AA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EB9DC-8338-45CE-904E-596A6CC4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Faster Daily Recording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4E456-0345-4339-919B-672A78E4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Smart Pocket reduces capture friction through simplified entry, category selection and reusable one-tap shortcuts.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5E007D8D-D71F-4FCF-B67A-B091D1F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562100" cy="32861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75ab89e784a26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2152650"/>
            <a:ext cx="1409700" cy="3133725"/>
          </a:xfrm>
          <a:prstGeom xmlns:a="http://schemas.openxmlformats.org/drawingml/2006/main" prst="roundRect">
            <a:avLst>
              <a:gd name="adj" fmla="val 810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22346-A991-4532-967D-24F0F786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Expense entry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C339E09B-A44F-4D5D-A02D-1130A12F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1562100" cy="32861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5d49828dd4efe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50" y="2152650"/>
            <a:ext cx="1409700" cy="3133725"/>
          </a:xfrm>
          <a:prstGeom xmlns:a="http://schemas.openxmlformats.org/drawingml/2006/main" prst="roundRect">
            <a:avLst>
              <a:gd name="adj" fmla="val 81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F4A48-5564-4BB8-9F0B-7A7B4E2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Lazy entry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EC1A836C-83E9-4629-BECF-24E8D7A2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1562100" cy="32861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ba66b3ea64b2b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2152650"/>
            <a:ext cx="1409700" cy="3133725"/>
          </a:xfrm>
          <a:prstGeom xmlns:a="http://schemas.openxmlformats.org/drawingml/2006/main" prst="roundRect">
            <a:avLst>
              <a:gd name="adj" fmla="val 810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93D93-C30D-4F45-8240-29FC3F55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38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Shortcuts</a:t>
            </a:r>
          </a:p>
        </p:txBody>
      </p:sp>
      <p:sp>
        <p:nvSpPr>
          <p:cNvPr id="17" name="glass-card">
            <a:extLst xmlns:a="http://schemas.openxmlformats.org/drawingml/2006/main">
              <a:ext uri="{FF2B5EF4-FFF2-40B4-BE49-F238E27FC236}">
                <a16:creationId xmlns:a16="http://schemas.microsoft.com/office/drawing/2014/main" id="{AB98C3E9-6F52-4B3F-AB8D-592F8078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FFC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39D59-9DCA-42DA-A0A6-C00606F1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0139A-887D-445F-B06B-B93BF4FA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Shortcut Logic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F1626-C16B-4F80-AD17-E060CD4D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Frequently repeated expenses can be saved once and recorded again with fewer steps.</a:t>
            </a:r>
          </a:p>
        </p:txBody>
      </p:sp>
      <p:sp>
        <p:nvSpPr>
          <p:cNvPr id="21" name="glass-card">
            <a:extLst xmlns:a="http://schemas.openxmlformats.org/drawingml/2006/main">
              <a:ext uri="{FF2B5EF4-FFF2-40B4-BE49-F238E27FC236}">
                <a16:creationId xmlns:a16="http://schemas.microsoft.com/office/drawing/2014/main" id="{2C1F5236-E6C4-4A99-85CA-CFC62C9B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D8C90-E41C-4EB5-8799-46AD5E13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0AE4B-5B63-4DC2-AD1B-8CB91B2C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434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Lazy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0C10C-9801-4735-A136-3FCA6FEF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The transaction form focuses on essential fields so users can record before they forget.</a:t>
            </a:r>
          </a:p>
        </p:txBody>
      </p:sp>
    </p:spTree>
    <p:extLst>
      <p:ext uri="{BB962C8B-B14F-4D97-AF65-F5344CB8AC3E}">
        <p14:creationId xmlns:p14="http://schemas.microsoft.com/office/powerpoint/2010/main" val="243318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2E50CEF1-8C8B-4E09-831E-72F7F9D5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ED75A8D8-8C29-4610-BF7A-AF399F68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EC0F7BBD-322C-489A-AE38-EE8138CA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16E9A-F111-4AAA-91C9-25E7A29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68625-6764-4FA2-AEEF-E119DFDA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F5528-77E6-4A09-B290-0FEA62B2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Automation for Sustainable Habits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7E052-A4A6-461F-888A-49F749D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Recurring plans and budget controls reduce repetitive work while keeping financial records complete.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1B2253B3-3A90-4732-9772-F9933740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1581150" cy="3333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9a5fee7864b6d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2152650"/>
            <a:ext cx="1428750" cy="31813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581C8-586B-4346-AE08-A1703508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Recurring list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36880129-ED4D-428E-9ADA-E0EDE6DF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1581150" cy="3333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883435e904022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0" y="2152650"/>
            <a:ext cx="1428750" cy="31813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D2851-411D-47FE-9D19-DA44231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864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Add recurring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352DDB35-C488-4366-89F3-DBE9A651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1581150" cy="33337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2e7dc08bc4d66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2152650"/>
            <a:ext cx="1428750" cy="31813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D6D72-4CA0-46DC-93DA-320F161D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864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Monthly budget</a:t>
            </a:r>
          </a:p>
        </p:txBody>
      </p:sp>
      <p:sp>
        <p:nvSpPr>
          <p:cNvPr id="17" name="glass-card">
            <a:extLst xmlns:a="http://schemas.openxmlformats.org/drawingml/2006/main">
              <a:ext uri="{FF2B5EF4-FFF2-40B4-BE49-F238E27FC236}">
                <a16:creationId xmlns:a16="http://schemas.microsoft.com/office/drawing/2014/main" id="{6DF46B2A-7070-48B3-9D14-B611FB54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FF5B7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53E09-E113-41C3-9294-85E2E0E3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9E4F7-D195-4B06-B7DF-79528762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Recurring Transactions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EB227-2555-4336-8A4B-BE750148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Useful for salary, subscriptions and fixed bills that repeat every month.</a:t>
            </a:r>
          </a:p>
        </p:txBody>
      </p:sp>
      <p:sp>
        <p:nvSpPr>
          <p:cNvPr id="21" name="glass-card">
            <a:extLst xmlns:a="http://schemas.openxmlformats.org/drawingml/2006/main">
              <a:ext uri="{FF2B5EF4-FFF2-40B4-BE49-F238E27FC236}">
                <a16:creationId xmlns:a16="http://schemas.microsoft.com/office/drawing/2014/main" id="{1CD2BDCB-8973-4A84-8630-554E942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41C10-4E69-4A6E-8772-3A4A0B22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0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3711A-A338-46CC-A7DE-81B61BEB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434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Budget Management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0F445-7F71-4D99-B03C-62BDE5FC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Monthly budget feedback helps users connect spending records with control.</a:t>
            </a:r>
          </a:p>
        </p:txBody>
      </p:sp>
    </p:spTree>
    <p:extLst>
      <p:ext uri="{BB962C8B-B14F-4D97-AF65-F5344CB8AC3E}">
        <p14:creationId xmlns:p14="http://schemas.microsoft.com/office/powerpoint/2010/main" val="6518814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1E4C1B06-A1A4-4F9B-997C-C89CCA9C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0E0C4CD2-595E-4FD7-B562-4F077F7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EAF75A31-5151-43AD-8EB6-228BF531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DCE70-DB12-4D19-BC19-B3D20ECD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ANALYTICS &amp;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B7E4-256D-4861-ADA8-40C3441C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3D2E6-1716-420F-A6F5-D9312B9E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From Records to Awareness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96D31-5612-40C2-A9F4-870DB59B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Smart Pocket converts entries into budget, category, cash flow and PDF summaries.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484A6067-27AA-4437-9059-95149704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66850" cy="307657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021ce704a4ef0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152650"/>
            <a:ext cx="1314450" cy="2924175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D8B71-519F-4BCB-A5C6-18F467DA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Budget &amp; category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18D4B93B-8DDB-47C0-B3BC-D08752C5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1466850" cy="307657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94248dc674c90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2152650"/>
            <a:ext cx="1314450" cy="2924175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8DFDE-5E4F-414F-ACA9-DB402B1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29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Cash flow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0D4716D5-68FE-43EA-A956-4B5F033B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1466850" cy="307657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70f3675014bf1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2152650"/>
            <a:ext cx="1314450" cy="2924175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8D49D-AB4C-42F1-A3DD-7F955448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29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Investment</a:t>
            </a:r>
          </a:p>
        </p:txBody>
      </p:sp>
      <p:sp>
        <p:nvSpPr>
          <p:cNvPr id="17" name="glass-card">
            <a:extLst xmlns:a="http://schemas.openxmlformats.org/drawingml/2006/main">
              <a:ext uri="{FF2B5EF4-FFF2-40B4-BE49-F238E27FC236}">
                <a16:creationId xmlns:a16="http://schemas.microsoft.com/office/drawing/2014/main" id="{DDAA2B7D-B6B9-456B-99D4-13CAB971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1466850" cy="307657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7f3bf9ac647e5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152650"/>
            <a:ext cx="1314450" cy="2924175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5423C-236F-4AE4-B63B-E63AA449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29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PDF report</a:t>
            </a:r>
          </a:p>
        </p:txBody>
      </p:sp>
      <p:sp>
        <p:nvSpPr>
          <p:cNvPr id="20" name="glass-card">
            <a:extLst xmlns:a="http://schemas.openxmlformats.org/drawingml/2006/main">
              <a:ext uri="{FF2B5EF4-FFF2-40B4-BE49-F238E27FC236}">
                <a16:creationId xmlns:a16="http://schemas.microsoft.com/office/drawing/2014/main" id="{63BE609E-6BA3-4A00-A56F-CB9F8359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4D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7C618-E551-42B8-AC7A-F09D92F6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8B7D7-458D-4F50-9B04-0D93946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Demo Cue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1EA17-FCB9-4D81-9C73-7F1D3A53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Open Stats, show analytics cards, then export or preview the PDF report.</a:t>
            </a:r>
          </a:p>
        </p:txBody>
      </p:sp>
      <p:sp>
        <p:nvSpPr>
          <p:cNvPr id="24" name="glass-card">
            <a:extLst xmlns:a="http://schemas.openxmlformats.org/drawingml/2006/main">
              <a:ext uri="{FF2B5EF4-FFF2-40B4-BE49-F238E27FC236}">
                <a16:creationId xmlns:a16="http://schemas.microsoft.com/office/drawing/2014/main" id="{B92B53B0-3541-46FF-99F5-D96BEBFB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91000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F38CB-FFC8-4685-85EE-FB7CE102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005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45FA0-CC9A-4BA7-A982-A190ABE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339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User Value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626D6-8AE5-4A27-84A2-FDF3C71F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387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Reports make spending patterns easier to review and explain.</a:t>
            </a:r>
          </a:p>
        </p:txBody>
      </p:sp>
    </p:spTree>
    <p:extLst>
      <p:ext uri="{BB962C8B-B14F-4D97-AF65-F5344CB8AC3E}">
        <p14:creationId xmlns:p14="http://schemas.microsoft.com/office/powerpoint/2010/main" val="7982994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EC94A6EF-74BE-47FF-BC4A-22E58B02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9B1BCD81-748C-4593-B892-5C9D9CF1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1707C9F5-8D35-4CF2-A45E-683324C7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38CB0-7E0F-4415-A3FF-64FDCA07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BB1C8-C3DF-456E-902A-1C7F8F09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94A5A-B211-4DF0-A0C5-D00320C0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Validation and 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9253B-994F-495E-8F7E-4EF793F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Testing results show that the app is functional, usable and positively received by target users.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3D5A82B1-631E-4FF2-9194-906EC834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1789E-8B06-4C86-B01B-9616E75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E8FF"/>
                </a:solidFill>
              </a:defRPr>
            </a:pPr>
            <a:r>
              <a:rPr sz="3600" b="1">
                <a:solidFill>
                  <a:srgbClr val="39E8FF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ED0CC-2A09-4C3F-9705-0CCE734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C6DA"/>
                </a:solidFill>
              </a:defRPr>
            </a:pPr>
            <a:r>
              <a:rPr sz="1350" b="1">
                <a:solidFill>
                  <a:srgbClr val="B9C6DA"/>
                </a:solidFill>
              </a:rPr>
              <a:t>Functional pass rate across 56 test cases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462D3B16-1BEB-48AA-8AEE-8F5F0C72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762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36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44DB7-3B17-45F5-BAF7-E754BDBC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574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6D399"/>
                </a:solidFill>
              </a:defRPr>
            </a:pPr>
            <a:r>
              <a:rPr sz="3600" b="1">
                <a:solidFill>
                  <a:srgbClr val="36D399"/>
                </a:solidFill>
              </a:rPr>
              <a:t>90.6%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C08C6-AF64-4565-9A59-E9A60731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C6DA"/>
                </a:solidFill>
              </a:defRPr>
            </a:pPr>
            <a:r>
              <a:rPr sz="1350" b="1">
                <a:solidFill>
                  <a:srgbClr val="B9C6DA"/>
                </a:solidFill>
              </a:rPr>
              <a:t>Overall user satisfaction positive feedback</a:t>
            </a:r>
          </a:p>
        </p:txBody>
      </p:sp>
      <p:sp>
        <p:nvSpPr>
          <p:cNvPr id="14" name="glass-card">
            <a:extLst xmlns:a="http://schemas.openxmlformats.org/drawingml/2006/main">
              <a:ext uri="{FF2B5EF4-FFF2-40B4-BE49-F238E27FC236}">
                <a16:creationId xmlns:a16="http://schemas.microsoft.com/office/drawing/2014/main" id="{7E8D935C-C648-41BD-BB3A-5F6C358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762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B5BD1-E5BE-491E-A9BC-DA12142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E5DFF"/>
                </a:solidFill>
              </a:defRPr>
            </a:pPr>
            <a:r>
              <a:rPr sz="3600" b="1">
                <a:solidFill>
                  <a:srgbClr val="8E5DFF"/>
                </a:solidFill>
              </a:rPr>
              <a:t>93.8%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B1370-EADA-4C38-8790-45AEEE5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C6DA"/>
                </a:solidFill>
              </a:defRPr>
            </a:pPr>
            <a:r>
              <a:rPr sz="1350" b="1">
                <a:solidFill>
                  <a:srgbClr val="B9C6DA"/>
                </a:solidFill>
              </a:rPr>
              <a:t>Recommendation positive feedback</a:t>
            </a:r>
          </a:p>
        </p:txBody>
      </p:sp>
      <p:sp>
        <p:nvSpPr>
          <p:cNvPr id="17" name="glass-card">
            <a:extLst xmlns:a="http://schemas.openxmlformats.org/drawingml/2006/main">
              <a:ext uri="{FF2B5EF4-FFF2-40B4-BE49-F238E27FC236}">
                <a16:creationId xmlns:a16="http://schemas.microsoft.com/office/drawing/2014/main" id="{DF779082-C7E7-490E-8C70-2433959F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233F"/>
          </a:solidFill>
          <a:ln xmlns:a="http://schemas.openxmlformats.org/drawingml/2006/main" w="12383">
            <a:solidFill>
              <a:srgbClr val="FFC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3B3E7-00FE-42BF-96B0-8208B0AF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862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C857"/>
                </a:solidFill>
              </a:defRPr>
            </a:pPr>
            <a:r>
              <a:rPr sz="3600" b="1">
                <a:solidFill>
                  <a:srgbClr val="FFC857"/>
                </a:solidFill>
              </a:rPr>
              <a:t>81.2%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8EC90-2F0C-499C-9FED-6E317651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C6DA"/>
                </a:solidFill>
              </a:defRPr>
            </a:pPr>
            <a:r>
              <a:rPr sz="1350" b="1">
                <a:solidFill>
                  <a:srgbClr val="B9C6DA"/>
                </a:solidFill>
              </a:rPr>
              <a:t>One-Tap Shortcuts save time positive feedback</a:t>
            </a:r>
          </a:p>
        </p:txBody>
      </p:sp>
    </p:spTree>
    <p:extLst>
      <p:ext uri="{BB962C8B-B14F-4D97-AF65-F5344CB8AC3E}">
        <p14:creationId xmlns:p14="http://schemas.microsoft.com/office/powerpoint/2010/main" val="1638890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tmosphere">
            <a:extLst xmlns:a="http://schemas.openxmlformats.org/drawingml/2006/main">
              <a:ext uri="{FF2B5EF4-FFF2-40B4-BE49-F238E27FC236}">
                <a16:creationId xmlns:a16="http://schemas.microsoft.com/office/drawing/2014/main" id="{7EE4B37D-D39B-47CD-BDA0-199E2153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yan-wash">
            <a:extLst xmlns:a="http://schemas.openxmlformats.org/drawingml/2006/main">
              <a:ext uri="{FF2B5EF4-FFF2-40B4-BE49-F238E27FC236}">
                <a16:creationId xmlns:a16="http://schemas.microsoft.com/office/drawing/2014/main" id="{69B76E09-BB53-4841-A587-2FE96071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191000"/>
            <a:ext cx="5905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2A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violet-wash">
            <a:extLst xmlns:a="http://schemas.openxmlformats.org/drawingml/2006/main">
              <a:ext uri="{FF2B5EF4-FFF2-40B4-BE49-F238E27FC236}">
                <a16:creationId xmlns:a16="http://schemas.microsoft.com/office/drawing/2014/main" id="{799B078B-5E45-4C40-A06E-D4A38632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952500"/>
            <a:ext cx="5524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1133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6E38F-9980-44F4-916E-3D15AACE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E8FF"/>
                </a:solidFill>
              </a:defRPr>
            </a:pPr>
            <a:r>
              <a:rPr sz="975" b="1">
                <a:solidFill>
                  <a:srgbClr val="39E8FF"/>
                </a:solidFill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C10FE-3460-43DD-948E-4B28682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8EA8"/>
                </a:solidFill>
              </a:defRPr>
            </a:pPr>
            <a:r>
              <a:rPr sz="975" b="1">
                <a:solidFill>
                  <a:srgbClr val="7E8EA8"/>
                </a:solidFill>
              </a:rPr>
              <a:t>FYP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BD902-152F-46D2-BF4A-AE83D3B5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Future of Personal Finance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AC2C7-5609-4385-B336-778B854F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6DA"/>
                </a:solidFill>
              </a:defRPr>
            </a:pPr>
            <a:r>
              <a:rPr sz="1500" b="0">
                <a:solidFill>
                  <a:srgbClr val="B9C6DA"/>
                </a:solidFill>
              </a:rPr>
              <a:t>Smart Pocket's value is not only more features. It is an adaptive tracking experience that different users can actually continue using.</a:t>
            </a:r>
          </a:p>
        </p:txBody>
      </p:sp>
      <p:sp>
        <p:nvSpPr>
          <p:cNvPr id="8" name="glass-card">
            <a:extLst xmlns:a="http://schemas.openxmlformats.org/drawingml/2006/main">
              <a:ext uri="{FF2B5EF4-FFF2-40B4-BE49-F238E27FC236}">
                <a16:creationId xmlns:a16="http://schemas.microsoft.com/office/drawing/2014/main" id="{DC1FE82E-C614-496F-97C4-309E17B5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33500"/>
            <a:ext cx="1847850" cy="392430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061020"/>
          </a:solidFill>
          <a:ln xmlns:a="http://schemas.openxmlformats.org/drawingml/2006/main" w="14288">
            <a:solidFill>
              <a:srgbClr val="3557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0354cff2f441a"/>
          <a:srcRect xmlns:a="http://schemas.openxmlformats.org/drawingml/2006/main" l="0" t="34" r="0" b="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8625" y="1409700"/>
            <a:ext cx="1695450" cy="3771900"/>
          </a:xfrm>
          <a:prstGeom xmlns:a="http://schemas.openxmlformats.org/drawingml/2006/main" prst="roundRect">
            <a:avLst>
              <a:gd name="adj" fmla="val 674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2ACB9-2DF7-4492-A575-51B06D2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E8EA8"/>
                </a:solidFill>
              </a:defRPr>
            </a:pPr>
            <a:r>
              <a:rPr sz="1050" b="1">
                <a:solidFill>
                  <a:srgbClr val="7E8EA8"/>
                </a:solidFill>
              </a:rPr>
              <a:t>Dark mode dashboard</a:t>
            </a:r>
          </a:p>
        </p:txBody>
      </p:sp>
      <p:sp>
        <p:nvSpPr>
          <p:cNvPr id="11" name="glass-card">
            <a:extLst xmlns:a="http://schemas.openxmlformats.org/drawingml/2006/main">
              <a:ext uri="{FF2B5EF4-FFF2-40B4-BE49-F238E27FC236}">
                <a16:creationId xmlns:a16="http://schemas.microsoft.com/office/drawing/2014/main" id="{1D9A60DE-D2C1-4E0D-A2F3-89DB950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9E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360BD-DC56-462B-A0D0-2CBFE13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74056-63CB-437C-B992-83A9414F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Problem Solved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9CDC0-4FE9-41C0-BDCA-D4B81F3E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Reduced recording friction through shortcuts, recurring plans and Lazy Mode.</a:t>
            </a:r>
          </a:p>
        </p:txBody>
      </p:sp>
      <p:sp>
        <p:nvSpPr>
          <p:cNvPr id="15" name="glass-card">
            <a:extLst xmlns:a="http://schemas.openxmlformats.org/drawingml/2006/main">
              <a:ext uri="{FF2B5EF4-FFF2-40B4-BE49-F238E27FC236}">
                <a16:creationId xmlns:a16="http://schemas.microsoft.com/office/drawing/2014/main" id="{F0B14022-A5EB-46C9-84AC-7FBCF599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8E5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0025D-2F75-4F0D-AF5C-AAAF087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43704-E365-43EF-A058-4F0F590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Key Innovation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1A309-ACB3-41EE-B9D4-1054CA52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Multi-mode architecture bridges fast entry and detailed account control.</a:t>
            </a:r>
          </a:p>
        </p:txBody>
      </p:sp>
      <p:sp>
        <p:nvSpPr>
          <p:cNvPr id="19" name="glass-card">
            <a:extLst xmlns:a="http://schemas.openxmlformats.org/drawingml/2006/main">
              <a:ext uri="{FF2B5EF4-FFF2-40B4-BE49-F238E27FC236}">
                <a16:creationId xmlns:a16="http://schemas.microsoft.com/office/drawing/2014/main" id="{0F494C58-8014-425F-BF4A-A9F699D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36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6986D-7CE5-4E3E-9C16-4449EC18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DFF0A-4B5A-4241-B389-0248A0C3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User Impact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B94BD-1BB8-4B11-942B-62EB22B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Analytics, reports and allocation views improve financial awareness.</a:t>
            </a:r>
          </a:p>
        </p:txBody>
      </p:sp>
      <p:sp>
        <p:nvSpPr>
          <p:cNvPr id="23" name="glass-card">
            <a:extLst xmlns:a="http://schemas.openxmlformats.org/drawingml/2006/main">
              <a:ext uri="{FF2B5EF4-FFF2-40B4-BE49-F238E27FC236}">
                <a16:creationId xmlns:a16="http://schemas.microsoft.com/office/drawing/2014/main" id="{79FBF371-00DC-4CBC-9D49-2F22108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12383">
            <a:solidFill>
              <a:srgbClr val="4D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25EBEF-62CF-49F2-8202-35DCC95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14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3780C-2F9F-45B3-B247-7F693B87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48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Future Potential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99793-E46C-4340-A571-7F0BE3A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6DA"/>
                </a:solidFill>
              </a:defRPr>
            </a:pPr>
            <a:r>
              <a:rPr sz="1125" b="0">
                <a:solidFill>
                  <a:srgbClr val="B9C6DA"/>
                </a:solidFill>
              </a:rPr>
              <a:t>Scalable foundation for OCR receipt capture, bank integration and predictive analytics.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9BE6C-9AA7-48FA-A262-C489560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Closing line: Smart Pocket adapts to the user, so the user does not have to abandon tracking.</a:t>
            </a:r>
          </a:p>
        </p:txBody>
      </p:sp>
    </p:spTree>
    <p:extLst>
      <p:ext uri="{BB962C8B-B14F-4D97-AF65-F5344CB8AC3E}">
        <p14:creationId xmlns:p14="http://schemas.microsoft.com/office/powerpoint/2010/main" val="177309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2026-06-20T11:47:47.9670000Z</dcterms:created>
  <dcterms:modified xsi:type="dcterms:W3CDTF">2026-06-20T11:47:47.9680000Z</dcterms:modified>
</coreProperties>
</file>